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BCD7D8-F144-D347-EA71-ABB31B009AF8}" v="13" dt="2026-08-14T20:40:00.516"/>
    <p1510:client id="{2E3B75BF-88A8-41BF-0E4E-0150D7B45CAC}" v="50" dt="2026-08-14T20:44:39.388"/>
    <p1510:client id="{E4257D3E-4F30-34A0-4C94-E42E3F35CEF6}" v="219" dt="2026-08-14T20:49:11.8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48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D7FDDE-CF9C-496D-BEF5-768CB2045504}" type="datetimeFigureOut">
              <a:t>14/08/26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7B9C96-BBDC-4F4D-95BF-829CCDDCCB14}" type="slidenum"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095622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0:00 — Portada real de la app. Nombre: Miqui. Frase de apertura: 'Esto resuelve algo que en Santiago ya no es problema, pero en el Chile rural sigue siéndolo.'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0:00-0:30. Describir la experiencia, sin cifras. Frase ancla: 'En Santiago uno sabe. En el Chile rural, solo se espera.'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0:30–0:45, puente hacia la demo. Una sola frase por rol, sin detenerse.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Lámina de respaldo si el demo en vivo falla por wifi saturado en la Feria. El precio y el reporte de 'va llena' son features que se sumaron sobre la base planificada — mencionarlos como bonus, no como parte del pitch original.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Momento clímax de la demo: cortar la señal en vivo y mostrar el cambio de estado a 'sin señal hace X min'. Frase: 'Cualquiera puede poner un punto en un mapa. Preferimos decir no sé antes que mentir.'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2:15–2:45. Tres frases, sin detenerse, mientras esta lámina queda en pantalla durante preguntas. 2:45–3:00: colchón. Si sobra tiempo, profundizar en el riesgo de adopción.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BDEB24-BBDB-3859-4CCA-AA7FC83584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F78311-E439-E012-6334-6A475EF66A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1AD117-4967-B8E2-01FC-67FBEA7FAD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2:15–2:45. Tres frases, sin detenerse, mientras esta lámina queda en pantalla durante preguntas. 2:45–3:00: colchón. Si sobra tiempo, profundizar en el riesgo de adopción.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BC8639-CB4E-6D93-43ED-BD0A170AFF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0990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horariodebuses.cl/buses-flota-talagante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chicureohoy.cl/actualidad/colina-buses-damir-anuncia-alza-en-sus-tarifas-de-transporte-publico-hacia-santiago/" TargetMode="External"/><Relationship Id="rId5" Type="http://schemas.openxmlformats.org/officeDocument/2006/relationships/hyperlink" Target="https://islaval.cl/recorridos/" TargetMode="External"/><Relationship Id="rId4" Type="http://schemas.openxmlformats.org/officeDocument/2006/relationships/hyperlink" Target="https://soydepaine.cl/horarios-buses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x_build/logo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57200"/>
            <a:ext cx="1417320" cy="39400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0" y="566928"/>
            <a:ext cx="4325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50" dirty="0">
                <a:solidFill>
                  <a:srgbClr val="ED6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HACKATHON  ·  EJE TRANSPORTE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30352" y="1965960"/>
            <a:ext cx="66751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8000"/>
              </a:lnSpc>
            </a:pPr>
            <a:r>
              <a:rPr lang="en-US" sz="4200" b="1" dirty="0" err="1">
                <a:solidFill>
                  <a:srgbClr val="0A0A0A"/>
                </a:solidFill>
                <a:latin typeface="Arial"/>
                <a:cs typeface="Arial"/>
              </a:rPr>
              <a:t>Miqui</a:t>
            </a:r>
            <a:r>
              <a:rPr lang="en-US" sz="4200" b="1" dirty="0">
                <a:solidFill>
                  <a:srgbClr val="0A0A0A"/>
                </a:solidFill>
                <a:latin typeface="Arial"/>
                <a:cs typeface="Arial"/>
              </a:rPr>
              <a:t>: </a:t>
            </a:r>
            <a:r>
              <a:rPr lang="en-US" sz="4200" b="1" dirty="0" err="1">
                <a:solidFill>
                  <a:srgbClr val="0A0A0A"/>
                </a:solidFill>
                <a:latin typeface="Arial"/>
                <a:cs typeface="Arial"/>
              </a:rPr>
              <a:t>tu</a:t>
            </a:r>
            <a:r>
              <a:rPr lang="en-US" sz="4200" b="1" dirty="0">
                <a:solidFill>
                  <a:srgbClr val="0A0A0A"/>
                </a:solidFill>
                <a:latin typeface="Arial"/>
                <a:cs typeface="Arial"/>
              </a:rPr>
              <a:t> micro </a:t>
            </a:r>
            <a:r>
              <a:rPr lang="en-US" sz="4200" b="1" dirty="0" err="1">
                <a:solidFill>
                  <a:srgbClr val="0A0A0A"/>
                </a:solidFill>
                <a:latin typeface="Arial"/>
                <a:cs typeface="Arial"/>
              </a:rPr>
              <a:t>aquí</a:t>
            </a:r>
            <a:r>
              <a:rPr lang="en-US" sz="4200" b="1" dirty="0">
                <a:solidFill>
                  <a:srgbClr val="0A0A0A"/>
                </a:solidFill>
                <a:latin typeface="Arial"/>
                <a:cs typeface="Arial"/>
              </a:rPr>
              <a:t>. </a:t>
            </a:r>
          </a:p>
        </p:txBody>
      </p:sp>
      <p:sp>
        <p:nvSpPr>
          <p:cNvPr id="8" name="Text 5"/>
          <p:cNvSpPr/>
          <p:nvPr/>
        </p:nvSpPr>
        <p:spPr>
          <a:xfrm>
            <a:off x="548640" y="4160520"/>
            <a:ext cx="5943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6E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Miqui conecta a pasajeros y conductores de micros rurales, para que nadie más espere en un paradero sin saber si el bus ya pasó, cuánto falta, o si viene.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548640" y="6263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9A9AA0"/>
                </a:solidFill>
                <a:latin typeface="Arial"/>
                <a:ea typeface="Arial" pitchFamily="34" charset="-122"/>
                <a:cs typeface="Arial"/>
              </a:rPr>
              <a:t>Grupo 17: Micro-</a:t>
            </a:r>
            <a:r>
              <a:rPr lang="en-US" sz="1100" dirty="0" err="1">
                <a:solidFill>
                  <a:srgbClr val="9A9AA0"/>
                </a:solidFill>
                <a:latin typeface="Arial"/>
                <a:ea typeface="Arial" pitchFamily="34" charset="-122"/>
                <a:cs typeface="Arial"/>
              </a:rPr>
              <a:t>servicios</a:t>
            </a:r>
            <a:endParaRPr lang="en-US" sz="1100" dirty="0" err="1">
              <a:solidFill>
                <a:srgbClr val="9A9AA0"/>
              </a:solidFill>
              <a:latin typeface="Arial"/>
              <a:cs typeface="Arial"/>
            </a:endParaRPr>
          </a:p>
        </p:txBody>
      </p:sp>
      <p:pic>
        <p:nvPicPr>
          <p:cNvPr id="10" name="Image 1" descr="/home/claude/pptx_build/card_cr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8040" y="2135613"/>
            <a:ext cx="4526280" cy="2861093"/>
          </a:xfrm>
          <a:prstGeom prst="rect">
            <a:avLst/>
          </a:prstGeom>
          <a:effectLst>
            <a:outerShdw blurRad="177800" dist="63500" dir="5400000" algn="bl" rotWithShape="0">
              <a:srgbClr val="1A1A1A">
                <a:alpha val="18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horario existe. La certeza, no.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029200" cy="4709160"/>
          </a:xfrm>
          <a:prstGeom prst="roundRect">
            <a:avLst>
              <a:gd name="adj" fmla="val 2330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blurRad="127000" dist="38100" dir="5400000" algn="bl" rotWithShape="0">
              <a:srgbClr val="1A1A1A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868680" y="1783080"/>
            <a:ext cx="4388760" cy="3977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800" b="1" i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Dolor: No saber si el bus ya pasó, si viene, o si hoy simplemente no circula.</a:t>
            </a:r>
            <a:endParaRPr lang="en-US" sz="2800" b="1" i="1" dirty="0"/>
          </a:p>
        </p:txBody>
      </p:sp>
      <p:sp>
        <p:nvSpPr>
          <p:cNvPr id="8" name="Shape 6"/>
          <p:cNvSpPr/>
          <p:nvPr/>
        </p:nvSpPr>
        <p:spPr>
          <a:xfrm>
            <a:off x="5989320" y="1581912"/>
            <a:ext cx="128016" cy="128016"/>
          </a:xfrm>
          <a:prstGeom prst="ellipse">
            <a:avLst/>
          </a:prstGeom>
          <a:solidFill>
            <a:srgbClr val="ED653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6263640" y="1399032"/>
            <a:ext cx="5394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</a:pPr>
            <a:r>
              <a:rPr lang="en-US" sz="1500" b="1" dirty="0">
                <a:solidFill>
                  <a:srgbClr val="0A0A0A"/>
                </a:solidFill>
                <a:latin typeface="Arial"/>
                <a:ea typeface="Arial" pitchFamily="34" charset="-122"/>
                <a:cs typeface="Arial"/>
              </a:rPr>
              <a:t>En Santiago, abrir la app y ver la micro en el mapa es rutina. </a:t>
            </a:r>
            <a:r>
              <a:rPr lang="en-US" sz="1500" dirty="0">
                <a:solidFill>
                  <a:srgbClr val="6E6E72"/>
                </a:solidFill>
                <a:latin typeface="Arial"/>
                <a:ea typeface="Arial" pitchFamily="34" charset="-122"/>
                <a:cs typeface="Arial"/>
              </a:rPr>
              <a:t>En el Chile rural, esa opción no existe.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89320" y="3044952"/>
            <a:ext cx="128016" cy="128016"/>
          </a:xfrm>
          <a:prstGeom prst="ellipse">
            <a:avLst/>
          </a:prstGeom>
          <a:solidFill>
            <a:srgbClr val="ED653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6263640" y="2862072"/>
            <a:ext cx="5394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horario publicado no es una promesa. </a:t>
            </a:r>
            <a:r>
              <a:rPr lang="en-US" sz="1500" dirty="0">
                <a:solidFill>
                  <a:srgbClr val="6E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una referencia que nadie está obligado a cumplir.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989320" y="4507992"/>
            <a:ext cx="128016" cy="128016"/>
          </a:xfrm>
          <a:prstGeom prst="ellipse">
            <a:avLst/>
          </a:prstGeom>
          <a:solidFill>
            <a:srgbClr val="ED653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/>
          <p:nvPr/>
        </p:nvSpPr>
        <p:spPr>
          <a:xfrm>
            <a:off x="6263640" y="4325112"/>
            <a:ext cx="5394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nada que revisar, la única opción es esperar. </a:t>
            </a:r>
            <a:r>
              <a:rPr lang="en-US" sz="1500" dirty="0">
                <a:solidFill>
                  <a:srgbClr val="6E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saber cuánto falta, ni si la micro finalmente va a llegar.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chofer transmite. El pasajero ve.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691640"/>
            <a:ext cx="3429000" cy="356616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blurRad="127000" dist="38100" dir="5400000" algn="bl" rotWithShape="0">
              <a:srgbClr val="1A1A1A">
                <a:alpha val="7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4" name="Shape 2"/>
          <p:cNvSpPr/>
          <p:nvPr/>
        </p:nvSpPr>
        <p:spPr>
          <a:xfrm>
            <a:off x="1805940" y="2103120"/>
            <a:ext cx="914400" cy="914400"/>
          </a:xfrm>
          <a:prstGeom prst="ellipse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/>
          <p:nvPr/>
        </p:nvSpPr>
        <p:spPr>
          <a:xfrm>
            <a:off x="1805940" y="21031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77240" y="32004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Empresa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68680" y="3703320"/>
            <a:ext cx="2788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lang="en-US" sz="1350" dirty="0" err="1">
                <a:solidFill>
                  <a:srgbClr val="6E6E72"/>
                </a:solidFill>
                <a:latin typeface="Arial"/>
                <a:ea typeface="Arial" pitchFamily="34" charset="-122"/>
                <a:cs typeface="Arial"/>
              </a:rPr>
              <a:t>Registra</a:t>
            </a:r>
            <a:r>
              <a:rPr lang="en-US" sz="1350" dirty="0">
                <a:solidFill>
                  <a:srgbClr val="6E6E72"/>
                </a:solidFill>
                <a:latin typeface="Arial"/>
                <a:ea typeface="Arial" pitchFamily="34" charset="-122"/>
                <a:cs typeface="Arial"/>
              </a:rPr>
              <a:t> sus </a:t>
            </a:r>
            <a:r>
              <a:rPr lang="en-US" sz="1350" dirty="0" err="1">
                <a:solidFill>
                  <a:srgbClr val="6E6E72"/>
                </a:solidFill>
                <a:latin typeface="Arial"/>
                <a:ea typeface="Arial" pitchFamily="34" charset="-122"/>
                <a:cs typeface="Arial"/>
              </a:rPr>
              <a:t>recorridos</a:t>
            </a:r>
            <a:r>
              <a:rPr lang="en-US" sz="1350" dirty="0">
                <a:solidFill>
                  <a:srgbClr val="6E6E72"/>
                </a:solidFill>
                <a:latin typeface="Arial"/>
                <a:ea typeface="Arial" pitchFamily="34" charset="-122"/>
                <a:cs typeface="Arial"/>
              </a:rPr>
              <a:t> (</a:t>
            </a:r>
            <a:r>
              <a:rPr lang="en-US" sz="1350" dirty="0" err="1">
                <a:solidFill>
                  <a:srgbClr val="6E6E72"/>
                </a:solidFill>
                <a:latin typeface="Arial"/>
                <a:ea typeface="Arial" pitchFamily="34" charset="-122"/>
                <a:cs typeface="Arial"/>
              </a:rPr>
              <a:t>origen</a:t>
            </a:r>
            <a:r>
              <a:rPr lang="en-US" sz="1350" dirty="0">
                <a:solidFill>
                  <a:srgbClr val="6E6E72"/>
                </a:solidFill>
                <a:latin typeface="Arial"/>
                <a:ea typeface="Arial" pitchFamily="34" charset="-122"/>
                <a:cs typeface="Arial"/>
              </a:rPr>
              <a:t> y </a:t>
            </a:r>
            <a:r>
              <a:rPr lang="en-US" sz="1350" dirty="0" err="1">
                <a:solidFill>
                  <a:srgbClr val="6E6E72"/>
                </a:solidFill>
                <a:latin typeface="Arial"/>
                <a:ea typeface="Arial" pitchFamily="34" charset="-122"/>
                <a:cs typeface="Arial"/>
              </a:rPr>
              <a:t>destino</a:t>
            </a:r>
            <a:r>
              <a:rPr lang="en-US" sz="1350" dirty="0">
                <a:solidFill>
                  <a:srgbClr val="6E6E72"/>
                </a:solidFill>
                <a:latin typeface="Arial"/>
                <a:ea typeface="Arial" pitchFamily="34" charset="-122"/>
                <a:cs typeface="Arial"/>
              </a:rPr>
              <a:t>) y </a:t>
            </a:r>
            <a:r>
              <a:rPr lang="en-US" sz="1350" dirty="0" err="1">
                <a:solidFill>
                  <a:srgbClr val="6E6E72"/>
                </a:solidFill>
                <a:latin typeface="Arial"/>
                <a:ea typeface="Arial" pitchFamily="34" charset="-122"/>
                <a:cs typeface="Arial"/>
              </a:rPr>
              <a:t>gestiona</a:t>
            </a:r>
            <a:r>
              <a:rPr lang="en-US" sz="1350" dirty="0">
                <a:solidFill>
                  <a:srgbClr val="6E6E72"/>
                </a:solidFill>
                <a:latin typeface="Arial"/>
                <a:ea typeface="Arial" pitchFamily="34" charset="-122"/>
                <a:cs typeface="Arial"/>
              </a:rPr>
              <a:t> las </a:t>
            </a:r>
            <a:r>
              <a:rPr lang="en-US" sz="1350" dirty="0" err="1">
                <a:solidFill>
                  <a:srgbClr val="6E6E72"/>
                </a:solidFill>
                <a:latin typeface="Arial"/>
                <a:ea typeface="Arial" pitchFamily="34" charset="-122"/>
                <a:cs typeface="Arial"/>
              </a:rPr>
              <a:t>cuentas</a:t>
            </a:r>
            <a:r>
              <a:rPr lang="en-US" sz="1350" dirty="0">
                <a:solidFill>
                  <a:srgbClr val="6E6E72"/>
                </a:solidFill>
                <a:latin typeface="Arial"/>
                <a:ea typeface="Arial" pitchFamily="34" charset="-122"/>
                <a:cs typeface="Arial"/>
              </a:rPr>
              <a:t> de sus </a:t>
            </a:r>
            <a:r>
              <a:rPr lang="en-US" sz="1350" dirty="0" err="1">
                <a:solidFill>
                  <a:srgbClr val="6E6E72"/>
                </a:solidFill>
                <a:latin typeface="Arial"/>
                <a:ea typeface="Arial" pitchFamily="34" charset="-122"/>
                <a:cs typeface="Arial"/>
              </a:rPr>
              <a:t>choferes</a:t>
            </a:r>
            <a:r>
              <a:rPr lang="en-US" sz="1350" dirty="0">
                <a:solidFill>
                  <a:srgbClr val="6E6E72"/>
                </a:solidFill>
                <a:latin typeface="Arial"/>
                <a:ea typeface="Arial" pitchFamily="34" charset="-122"/>
                <a:cs typeface="Arial"/>
              </a:rPr>
              <a:t>.</a:t>
            </a:r>
            <a:endParaRPr lang="en-US" sz="1350" dirty="0">
              <a:latin typeface="Arial"/>
              <a:cs typeface="Arial"/>
            </a:endParaRPr>
          </a:p>
        </p:txBody>
      </p:sp>
      <p:sp>
        <p:nvSpPr>
          <p:cNvPr id="8" name="Text 6"/>
          <p:cNvSpPr/>
          <p:nvPr/>
        </p:nvSpPr>
        <p:spPr>
          <a:xfrm>
            <a:off x="3995928" y="3108960"/>
            <a:ext cx="283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A9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297680" y="1691640"/>
            <a:ext cx="3429000" cy="356616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blurRad="127000" dist="38100" dir="5400000" algn="bl" rotWithShape="0">
              <a:srgbClr val="1A1A1A">
                <a:alpha val="7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0" name="Shape 8"/>
          <p:cNvSpPr/>
          <p:nvPr/>
        </p:nvSpPr>
        <p:spPr>
          <a:xfrm>
            <a:off x="5554980" y="2103120"/>
            <a:ext cx="914400" cy="914400"/>
          </a:xfrm>
          <a:prstGeom prst="ellipse">
            <a:avLst/>
          </a:prstGeom>
          <a:solidFill>
            <a:srgbClr val="ED653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5554980" y="21031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526280" y="32004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Chofer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617720" y="3703320"/>
            <a:ext cx="2788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50" dirty="0">
                <a:solidFill>
                  <a:srgbClr val="6E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Inicia turno, elige recorrido y sentido. Su celular transmite la ubicación cada pocos segundos.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744968" y="3108960"/>
            <a:ext cx="283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A9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8046720" y="1691640"/>
            <a:ext cx="3429000" cy="356616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blurRad="127000" dist="38100" dir="5400000" algn="bl" rotWithShape="0">
              <a:srgbClr val="1A1A1A">
                <a:alpha val="7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6" name="Shape 14"/>
          <p:cNvSpPr/>
          <p:nvPr/>
        </p:nvSpPr>
        <p:spPr>
          <a:xfrm>
            <a:off x="9304020" y="2103120"/>
            <a:ext cx="914400" cy="914400"/>
          </a:xfrm>
          <a:prstGeom prst="ellipse">
            <a:avLst/>
          </a:prstGeom>
          <a:solidFill>
            <a:srgbClr val="53AB67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7" name="Text 15"/>
          <p:cNvSpPr/>
          <p:nvPr/>
        </p:nvSpPr>
        <p:spPr>
          <a:xfrm>
            <a:off x="9304020" y="21031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8275320" y="32004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Pasajero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366760" y="3703320"/>
            <a:ext cx="2788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lang="en-US" sz="1350" dirty="0">
                <a:solidFill>
                  <a:srgbClr val="6E6E72"/>
                </a:solidFill>
                <a:latin typeface="Arial"/>
                <a:ea typeface="Arial" pitchFamily="34" charset="-122"/>
                <a:cs typeface="Arial"/>
              </a:rPr>
              <a:t>Sin </a:t>
            </a:r>
            <a:r>
              <a:rPr lang="en-US" sz="1350" dirty="0" err="1">
                <a:solidFill>
                  <a:srgbClr val="6E6E72"/>
                </a:solidFill>
                <a:latin typeface="Arial"/>
                <a:ea typeface="Arial" pitchFamily="34" charset="-122"/>
                <a:cs typeface="Arial"/>
              </a:rPr>
              <a:t>cuenta</a:t>
            </a:r>
            <a:r>
              <a:rPr lang="en-US" sz="1350" dirty="0">
                <a:solidFill>
                  <a:srgbClr val="6E6E72"/>
                </a:solidFill>
                <a:latin typeface="Arial"/>
                <a:ea typeface="Arial" pitchFamily="34" charset="-122"/>
                <a:cs typeface="Arial"/>
              </a:rPr>
              <a:t> (</a:t>
            </a:r>
            <a:r>
              <a:rPr lang="en-US" sz="1350" dirty="0" err="1">
                <a:solidFill>
                  <a:srgbClr val="6E6E72"/>
                </a:solidFill>
                <a:latin typeface="Arial"/>
                <a:ea typeface="Arial" pitchFamily="34" charset="-122"/>
                <a:cs typeface="Arial"/>
              </a:rPr>
              <a:t>opcional</a:t>
            </a:r>
            <a:r>
              <a:rPr lang="en-US" sz="1350" dirty="0">
                <a:solidFill>
                  <a:srgbClr val="6E6E72"/>
                </a:solidFill>
                <a:latin typeface="Arial"/>
                <a:ea typeface="Arial" pitchFamily="34" charset="-122"/>
                <a:cs typeface="Arial"/>
              </a:rPr>
              <a:t>). </a:t>
            </a:r>
            <a:r>
              <a:rPr lang="en-US" sz="1350" dirty="0" err="1">
                <a:solidFill>
                  <a:srgbClr val="6E6E72"/>
                </a:solidFill>
                <a:latin typeface="Arial"/>
                <a:ea typeface="Arial" pitchFamily="34" charset="-122"/>
                <a:cs typeface="Arial"/>
              </a:rPr>
              <a:t>Busca</a:t>
            </a:r>
            <a:r>
              <a:rPr lang="en-US" sz="1350" dirty="0">
                <a:solidFill>
                  <a:srgbClr val="6E6E72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350" dirty="0" err="1">
                <a:solidFill>
                  <a:srgbClr val="6E6E72"/>
                </a:solidFill>
                <a:latin typeface="Arial"/>
                <a:ea typeface="Arial" pitchFamily="34" charset="-122"/>
                <a:cs typeface="Arial"/>
              </a:rPr>
              <a:t>su</a:t>
            </a:r>
            <a:r>
              <a:rPr lang="en-US" sz="1350" dirty="0">
                <a:solidFill>
                  <a:srgbClr val="6E6E72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350" dirty="0" err="1">
                <a:solidFill>
                  <a:srgbClr val="6E6E72"/>
                </a:solidFill>
                <a:latin typeface="Arial"/>
                <a:ea typeface="Arial" pitchFamily="34" charset="-122"/>
                <a:cs typeface="Arial"/>
              </a:rPr>
              <a:t>recorrido</a:t>
            </a:r>
            <a:r>
              <a:rPr lang="en-US" sz="1350" dirty="0">
                <a:solidFill>
                  <a:srgbClr val="6E6E72"/>
                </a:solidFill>
                <a:latin typeface="Arial"/>
                <a:ea typeface="Arial" pitchFamily="34" charset="-122"/>
                <a:cs typeface="Arial"/>
              </a:rPr>
              <a:t> y </a:t>
            </a:r>
            <a:r>
              <a:rPr lang="en-US" sz="1350" dirty="0" err="1">
                <a:solidFill>
                  <a:srgbClr val="6E6E72"/>
                </a:solidFill>
                <a:latin typeface="Arial"/>
                <a:ea typeface="Arial" pitchFamily="34" charset="-122"/>
                <a:cs typeface="Arial"/>
              </a:rPr>
              <a:t>ve</a:t>
            </a:r>
            <a:r>
              <a:rPr lang="en-US" sz="1350" dirty="0">
                <a:solidFill>
                  <a:srgbClr val="6E6E72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350" dirty="0" err="1">
                <a:solidFill>
                  <a:srgbClr val="6E6E72"/>
                </a:solidFill>
                <a:latin typeface="Arial"/>
                <a:ea typeface="Arial" pitchFamily="34" charset="-122"/>
                <a:cs typeface="Arial"/>
              </a:rPr>
              <a:t>en</a:t>
            </a:r>
            <a:r>
              <a:rPr lang="en-US" sz="1350" dirty="0">
                <a:solidFill>
                  <a:srgbClr val="6E6E72"/>
                </a:solidFill>
                <a:latin typeface="Arial"/>
                <a:ea typeface="Arial" pitchFamily="34" charset="-122"/>
                <a:cs typeface="Arial"/>
              </a:rPr>
              <a:t> el </a:t>
            </a:r>
            <a:r>
              <a:rPr lang="en-US" sz="1350" dirty="0" err="1">
                <a:solidFill>
                  <a:srgbClr val="6E6E72"/>
                </a:solidFill>
                <a:latin typeface="Arial"/>
                <a:ea typeface="Arial" pitchFamily="34" charset="-122"/>
                <a:cs typeface="Arial"/>
              </a:rPr>
              <a:t>mapa</a:t>
            </a:r>
            <a:r>
              <a:rPr lang="en-US" sz="1350" dirty="0">
                <a:solidFill>
                  <a:srgbClr val="6E6E72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350" dirty="0" err="1">
                <a:solidFill>
                  <a:srgbClr val="6E6E72"/>
                </a:solidFill>
                <a:latin typeface="Arial"/>
                <a:ea typeface="Arial" pitchFamily="34" charset="-122"/>
                <a:cs typeface="Arial"/>
              </a:rPr>
              <a:t>dónde</a:t>
            </a:r>
            <a:r>
              <a:rPr lang="en-US" sz="1350" dirty="0">
                <a:solidFill>
                  <a:srgbClr val="6E6E72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350" dirty="0" err="1">
                <a:solidFill>
                  <a:srgbClr val="6E6E72"/>
                </a:solidFill>
                <a:latin typeface="Arial"/>
                <a:ea typeface="Arial" pitchFamily="34" charset="-122"/>
                <a:cs typeface="Arial"/>
              </a:rPr>
              <a:t>vienen</a:t>
            </a:r>
            <a:r>
              <a:rPr lang="en-US" sz="1350" dirty="0">
                <a:solidFill>
                  <a:srgbClr val="6E6E72"/>
                </a:solidFill>
                <a:latin typeface="Arial"/>
                <a:ea typeface="Arial" pitchFamily="34" charset="-122"/>
                <a:cs typeface="Arial"/>
              </a:rPr>
              <a:t> las micros </a:t>
            </a:r>
            <a:r>
              <a:rPr lang="en-US" sz="1350" dirty="0" err="1">
                <a:solidFill>
                  <a:srgbClr val="6E6E72"/>
                </a:solidFill>
                <a:latin typeface="Arial"/>
                <a:ea typeface="Arial" pitchFamily="34" charset="-122"/>
                <a:cs typeface="Arial"/>
              </a:rPr>
              <a:t>activas</a:t>
            </a:r>
            <a:r>
              <a:rPr lang="en-US" sz="1350" dirty="0">
                <a:solidFill>
                  <a:srgbClr val="6E6E72"/>
                </a:solidFill>
                <a:latin typeface="Arial"/>
                <a:ea typeface="Arial" pitchFamily="34" charset="-122"/>
                <a:cs typeface="Arial"/>
              </a:rPr>
              <a:t>.</a:t>
            </a:r>
            <a:endParaRPr lang="en-US" sz="1350" dirty="0">
              <a:latin typeface="Arial"/>
              <a:cs typeface="Arial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548640" y="55321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i="1" dirty="0">
                <a:solidFill>
                  <a:srgbClr val="0A0A0A"/>
                </a:solidFill>
                <a:latin typeface="Arial"/>
                <a:ea typeface="Arial" pitchFamily="34" charset="-122"/>
                <a:cs typeface="Arial"/>
              </a:rPr>
              <a:t>Sin ETA. Sin </a:t>
            </a:r>
            <a:r>
              <a:rPr lang="en-US" sz="1500" b="1" i="1" dirty="0" err="1">
                <a:solidFill>
                  <a:srgbClr val="0A0A0A"/>
                </a:solidFill>
                <a:latin typeface="Arial"/>
                <a:ea typeface="Arial" pitchFamily="34" charset="-122"/>
                <a:cs typeface="Arial"/>
              </a:rPr>
              <a:t>trazado</a:t>
            </a:r>
            <a:r>
              <a:rPr lang="en-US" sz="1500" b="1" i="1" dirty="0">
                <a:solidFill>
                  <a:srgbClr val="0A0A0A"/>
                </a:solidFill>
                <a:latin typeface="Arial"/>
                <a:ea typeface="Arial" pitchFamily="34" charset="-122"/>
                <a:cs typeface="Arial"/>
              </a:rPr>
              <a:t> de </a:t>
            </a:r>
            <a:r>
              <a:rPr lang="en-US" sz="1500" b="1" i="1" dirty="0" err="1">
                <a:solidFill>
                  <a:srgbClr val="0A0A0A"/>
                </a:solidFill>
                <a:latin typeface="Arial"/>
                <a:ea typeface="Arial" pitchFamily="34" charset="-122"/>
                <a:cs typeface="Arial"/>
              </a:rPr>
              <a:t>ruta</a:t>
            </a:r>
            <a:r>
              <a:rPr lang="en-US" sz="1500" b="1" i="1" dirty="0">
                <a:solidFill>
                  <a:srgbClr val="0A0A0A"/>
                </a:solidFill>
                <a:latin typeface="Arial"/>
                <a:ea typeface="Arial" pitchFamily="34" charset="-122"/>
                <a:cs typeface="Arial"/>
              </a:rPr>
              <a:t>. </a:t>
            </a:r>
            <a:r>
              <a:rPr lang="en-US" sz="1500" i="1" dirty="0">
                <a:solidFill>
                  <a:srgbClr val="6E6E72"/>
                </a:solidFill>
                <a:latin typeface="Arial"/>
                <a:ea typeface="Arial" pitchFamily="34" charset="-122"/>
                <a:cs typeface="Arial"/>
              </a:rPr>
              <a:t>Solo lo </a:t>
            </a:r>
            <a:r>
              <a:rPr lang="en-US" sz="1500" i="1" dirty="0" err="1">
                <a:solidFill>
                  <a:srgbClr val="6E6E72"/>
                </a:solidFill>
                <a:latin typeface="Arial"/>
                <a:ea typeface="Arial" pitchFamily="34" charset="-122"/>
                <a:cs typeface="Arial"/>
              </a:rPr>
              <a:t>esencial</a:t>
            </a:r>
            <a:r>
              <a:rPr lang="en-US" sz="1500" i="1" dirty="0">
                <a:solidFill>
                  <a:srgbClr val="6E6E72"/>
                </a:solidFill>
                <a:latin typeface="Arial"/>
                <a:ea typeface="Arial" pitchFamily="34" charset="-122"/>
                <a:cs typeface="Arial"/>
              </a:rPr>
              <a:t> para responder la </a:t>
            </a:r>
            <a:r>
              <a:rPr lang="en-US" sz="1500" i="1" dirty="0" err="1">
                <a:solidFill>
                  <a:srgbClr val="6E6E72"/>
                </a:solidFill>
                <a:latin typeface="Arial"/>
                <a:ea typeface="Arial" pitchFamily="34" charset="-122"/>
                <a:cs typeface="Arial"/>
              </a:rPr>
              <a:t>pregunta</a:t>
            </a:r>
            <a:r>
              <a:rPr lang="en-US" sz="1500" i="1" dirty="0">
                <a:solidFill>
                  <a:srgbClr val="6E6E72"/>
                </a:solidFill>
                <a:latin typeface="Arial"/>
                <a:ea typeface="Arial" pitchFamily="34" charset="-122"/>
                <a:cs typeface="Arial"/>
              </a:rPr>
              <a:t> real: ¿</a:t>
            </a:r>
            <a:r>
              <a:rPr lang="en-US" sz="1500" i="1" dirty="0" err="1">
                <a:solidFill>
                  <a:srgbClr val="6E6E72"/>
                </a:solidFill>
                <a:latin typeface="Arial"/>
                <a:ea typeface="Arial" pitchFamily="34" charset="-122"/>
                <a:cs typeface="Arial"/>
              </a:rPr>
              <a:t>viene</a:t>
            </a:r>
            <a:r>
              <a:rPr lang="en-US" sz="1500" i="1" dirty="0">
                <a:solidFill>
                  <a:srgbClr val="6E6E72"/>
                </a:solidFill>
                <a:latin typeface="Arial"/>
                <a:ea typeface="Arial" pitchFamily="34" charset="-122"/>
                <a:cs typeface="Arial"/>
              </a:rPr>
              <a:t> o </a:t>
            </a:r>
            <a:r>
              <a:rPr lang="en-US" sz="1500" i="1" dirty="0" err="1">
                <a:solidFill>
                  <a:srgbClr val="6E6E72"/>
                </a:solidFill>
                <a:latin typeface="Arial"/>
                <a:ea typeface="Arial" pitchFamily="34" charset="-122"/>
                <a:cs typeface="Arial"/>
              </a:rPr>
              <a:t>ya</a:t>
            </a:r>
            <a:r>
              <a:rPr lang="en-US" sz="1500" i="1" dirty="0">
                <a:solidFill>
                  <a:srgbClr val="6E6E72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500" i="1" dirty="0" err="1">
                <a:solidFill>
                  <a:srgbClr val="6E6E72"/>
                </a:solidFill>
                <a:latin typeface="Arial"/>
                <a:ea typeface="Arial" pitchFamily="34" charset="-122"/>
                <a:cs typeface="Arial"/>
              </a:rPr>
              <a:t>pasó</a:t>
            </a:r>
            <a:r>
              <a:rPr lang="en-US" sz="1500" i="1" dirty="0">
                <a:solidFill>
                  <a:srgbClr val="6E6E72"/>
                </a:solidFill>
                <a:latin typeface="Arial"/>
                <a:ea typeface="Arial" pitchFamily="34" charset="-122"/>
                <a:cs typeface="Arial"/>
              </a:rPr>
              <a:t>?</a:t>
            </a:r>
            <a:endParaRPr lang="en-US" sz="15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Esto ya está funcionando.</a:t>
            </a:r>
            <a:endParaRPr lang="en-US" sz="3200" dirty="0"/>
          </a:p>
        </p:txBody>
      </p:sp>
      <p:pic>
        <p:nvPicPr>
          <p:cNvPr id="4" name="Image 0" descr="/home/claude/pptx_build/search_panel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4048" y="1645920"/>
            <a:ext cx="5943600" cy="2451735"/>
          </a:xfrm>
          <a:prstGeom prst="rect">
            <a:avLst/>
          </a:prstGeom>
          <a:effectLst>
            <a:outerShdw blurRad="152400" dist="50800" dir="5400000" algn="bl" rotWithShape="0">
              <a:srgbClr val="1A1A1A">
                <a:alpha val="15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3124048" y="4152519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A9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Búsqueda de recorrido sobre el mapa</a:t>
            </a:r>
            <a:endParaRPr lang="en-US" sz="1100" dirty="0"/>
          </a:p>
        </p:txBody>
      </p:sp>
      <p:pic>
        <p:nvPicPr>
          <p:cNvPr id="6" name="Image 1" descr="/home/claude/pptx_build/route_card_cr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4048" y="4609719"/>
            <a:ext cx="5943600" cy="1207294"/>
          </a:xfrm>
          <a:prstGeom prst="rect">
            <a:avLst/>
          </a:prstGeom>
          <a:effectLst>
            <a:outerShdw blurRad="152400" dist="50800" dir="5400000" algn="bl" rotWithShape="0">
              <a:srgbClr val="1A1A1A">
                <a:alpha val="15000"/>
              </a:srgbClr>
            </a:outerShdw>
          </a:effectLst>
        </p:spPr>
      </p:pic>
      <p:sp>
        <p:nvSpPr>
          <p:cNvPr id="7" name="Text 3"/>
          <p:cNvSpPr/>
          <p:nvPr/>
        </p:nvSpPr>
        <p:spPr>
          <a:xfrm>
            <a:off x="3124048" y="5871877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A9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 activas: estado en vivo, precio y reporte de ocupación cargado por pasajeros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Preferimos decir “no sé” antes que mentir.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6E6E72"/>
                </a:solidFill>
                <a:latin typeface="Arial"/>
                <a:ea typeface="Arial" pitchFamily="34" charset="-122"/>
                <a:cs typeface="Arial"/>
              </a:rPr>
              <a:t>Cuatro </a:t>
            </a:r>
            <a:r>
              <a:rPr lang="en-US" sz="1500" dirty="0" err="1">
                <a:solidFill>
                  <a:srgbClr val="6E6E72"/>
                </a:solidFill>
                <a:latin typeface="Arial"/>
                <a:ea typeface="Arial" pitchFamily="34" charset="-122"/>
                <a:cs typeface="Arial"/>
              </a:rPr>
              <a:t>estados</a:t>
            </a:r>
            <a:r>
              <a:rPr lang="en-US" sz="1500" dirty="0">
                <a:solidFill>
                  <a:srgbClr val="6E6E72"/>
                </a:solidFill>
                <a:latin typeface="Arial"/>
                <a:ea typeface="Arial" pitchFamily="34" charset="-122"/>
                <a:cs typeface="Arial"/>
              </a:rPr>
              <a:t>, </a:t>
            </a:r>
            <a:r>
              <a:rPr lang="en-US" sz="1500" dirty="0" err="1">
                <a:solidFill>
                  <a:srgbClr val="6E6E72"/>
                </a:solidFill>
                <a:latin typeface="Arial"/>
                <a:ea typeface="Arial" pitchFamily="34" charset="-122"/>
                <a:cs typeface="Arial"/>
              </a:rPr>
              <a:t>siempre</a:t>
            </a:r>
            <a:r>
              <a:rPr lang="en-US" sz="1500" dirty="0">
                <a:solidFill>
                  <a:srgbClr val="6E6E72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500" dirty="0" err="1">
                <a:solidFill>
                  <a:srgbClr val="6E6E72"/>
                </a:solidFill>
                <a:latin typeface="Arial"/>
                <a:ea typeface="Arial" pitchFamily="34" charset="-122"/>
                <a:cs typeface="Arial"/>
              </a:rPr>
              <a:t>visibles</a:t>
            </a:r>
            <a:r>
              <a:rPr lang="en-US" sz="1500" dirty="0">
                <a:solidFill>
                  <a:srgbClr val="6E6E72"/>
                </a:solidFill>
                <a:latin typeface="Arial"/>
                <a:ea typeface="Arial" pitchFamily="34" charset="-122"/>
                <a:cs typeface="Arial"/>
              </a:rPr>
              <a:t> para el </a:t>
            </a:r>
            <a:r>
              <a:rPr lang="en-US" sz="1500" dirty="0" err="1">
                <a:solidFill>
                  <a:srgbClr val="6E6E72"/>
                </a:solidFill>
                <a:latin typeface="Arial"/>
                <a:ea typeface="Arial" pitchFamily="34" charset="-122"/>
                <a:cs typeface="Arial"/>
              </a:rPr>
              <a:t>pasajero</a:t>
            </a:r>
            <a:r>
              <a:rPr lang="en-US" sz="1500" dirty="0">
                <a:solidFill>
                  <a:srgbClr val="6E6E72"/>
                </a:solidFill>
                <a:latin typeface="Arial"/>
                <a:ea typeface="Arial" pitchFamily="34" charset="-122"/>
                <a:cs typeface="Arial"/>
              </a:rPr>
              <a:t>. Nunca </a:t>
            </a:r>
            <a:r>
              <a:rPr lang="en-US" sz="1500" dirty="0" err="1">
                <a:solidFill>
                  <a:srgbClr val="6E6E72"/>
                </a:solidFill>
                <a:latin typeface="Arial"/>
                <a:ea typeface="Arial" pitchFamily="34" charset="-122"/>
                <a:cs typeface="Arial"/>
              </a:rPr>
              <a:t>una</a:t>
            </a:r>
            <a:r>
              <a:rPr lang="en-US" sz="1500" dirty="0">
                <a:solidFill>
                  <a:srgbClr val="6E6E72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500" dirty="0" err="1">
                <a:solidFill>
                  <a:srgbClr val="6E6E72"/>
                </a:solidFill>
                <a:latin typeface="Arial"/>
                <a:ea typeface="Arial" pitchFamily="34" charset="-122"/>
                <a:cs typeface="Arial"/>
              </a:rPr>
              <a:t>posición</a:t>
            </a:r>
            <a:r>
              <a:rPr lang="en-US" sz="1500" dirty="0">
                <a:solidFill>
                  <a:srgbClr val="6E6E72"/>
                </a:solidFill>
                <a:latin typeface="Arial"/>
                <a:ea typeface="Arial" pitchFamily="34" charset="-122"/>
                <a:cs typeface="Arial"/>
              </a:rPr>
              <a:t> sin </a:t>
            </a:r>
            <a:r>
              <a:rPr lang="en-US" sz="1500" dirty="0" err="1">
                <a:solidFill>
                  <a:srgbClr val="6E6E72"/>
                </a:solidFill>
                <a:latin typeface="Arial"/>
                <a:ea typeface="Arial" pitchFamily="34" charset="-122"/>
                <a:cs typeface="Arial"/>
              </a:rPr>
              <a:t>fecha</a:t>
            </a:r>
            <a:r>
              <a:rPr lang="en-US" sz="1500" dirty="0">
                <a:solidFill>
                  <a:srgbClr val="6E6E72"/>
                </a:solidFill>
                <a:latin typeface="Arial"/>
                <a:ea typeface="Arial" pitchFamily="34" charset="-122"/>
                <a:cs typeface="Arial"/>
              </a:rPr>
              <a:t>.</a:t>
            </a:r>
            <a:endParaRPr lang="en-US" sz="1500" dirty="0">
              <a:latin typeface="Arial"/>
              <a:cs typeface="Arial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60604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9050">
            <a:solidFill>
              <a:srgbClr val="53AB67"/>
            </a:solidFill>
            <a:prstDash val="solid"/>
          </a:ln>
          <a:effectLst>
            <a:outerShdw blurRad="101600" dist="25400" dir="5400000" algn="bl" rotWithShape="0">
              <a:srgbClr val="1A1A1A">
                <a:alpha val="6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1650492" y="2258568"/>
            <a:ext cx="402336" cy="402336"/>
          </a:xfrm>
          <a:prstGeom prst="ellipse">
            <a:avLst/>
          </a:prstGeom>
          <a:solidFill>
            <a:srgbClr val="53AB67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685800" y="288036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vivo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31520" y="36576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E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actualizado hace segundos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10712" y="1965960"/>
            <a:ext cx="260604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9050">
            <a:solidFill>
              <a:srgbClr val="ED653D"/>
            </a:solidFill>
            <a:prstDash val="solid"/>
          </a:ln>
          <a:effectLst>
            <a:outerShdw blurRad="101600" dist="25400" dir="5400000" algn="bl" rotWithShape="0">
              <a:srgbClr val="1A1A1A">
                <a:alpha val="6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9" name="Shape 7"/>
          <p:cNvSpPr/>
          <p:nvPr/>
        </p:nvSpPr>
        <p:spPr>
          <a:xfrm>
            <a:off x="4512564" y="2258568"/>
            <a:ext cx="402336" cy="402336"/>
          </a:xfrm>
          <a:prstGeom prst="ellipse">
            <a:avLst/>
          </a:prstGeom>
          <a:solidFill>
            <a:srgbClr val="ED653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3547872" y="288036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Señal intermitente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3593592" y="36576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E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dato empieza a envejecer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72784" y="1965960"/>
            <a:ext cx="260604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9050">
            <a:solidFill>
              <a:srgbClr val="D6483F"/>
            </a:solidFill>
            <a:prstDash val="solid"/>
          </a:ln>
          <a:effectLst>
            <a:outerShdw blurRad="101600" dist="25400" dir="5400000" algn="bl" rotWithShape="0">
              <a:srgbClr val="1A1A1A">
                <a:alpha val="6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3" name="Shape 11"/>
          <p:cNvSpPr/>
          <p:nvPr/>
        </p:nvSpPr>
        <p:spPr>
          <a:xfrm>
            <a:off x="7374636" y="2258568"/>
            <a:ext cx="402336" cy="402336"/>
          </a:xfrm>
          <a:prstGeom prst="ellipse">
            <a:avLst/>
          </a:prstGeom>
          <a:solidFill>
            <a:srgbClr val="D6483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/>
          <p:nvPr/>
        </p:nvSpPr>
        <p:spPr>
          <a:xfrm>
            <a:off x="6409944" y="288036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señal hace X min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455664" y="36576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E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posición no confiable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134856" y="1965960"/>
            <a:ext cx="260604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9050">
            <a:solidFill>
              <a:srgbClr val="9A9AA0"/>
            </a:solidFill>
            <a:prstDash val="solid"/>
          </a:ln>
          <a:effectLst>
            <a:outerShdw blurRad="101600" dist="25400" dir="5400000" algn="bl" rotWithShape="0">
              <a:srgbClr val="1A1A1A">
                <a:alpha val="6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7" name="Shape 15"/>
          <p:cNvSpPr/>
          <p:nvPr/>
        </p:nvSpPr>
        <p:spPr>
          <a:xfrm>
            <a:off x="10236708" y="2258568"/>
            <a:ext cx="402336" cy="402336"/>
          </a:xfrm>
          <a:prstGeom prst="ellipse">
            <a:avLst/>
          </a:prstGeom>
          <a:solidFill>
            <a:srgbClr val="9A9AA0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8" name="Text 16"/>
          <p:cNvSpPr/>
          <p:nvPr/>
        </p:nvSpPr>
        <p:spPr>
          <a:xfrm>
            <a:off x="9272016" y="288036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hay micros en ruta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9317736" y="36576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E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cero micros activas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800600"/>
            <a:ext cx="11064240" cy="1234440"/>
          </a:xfrm>
          <a:prstGeom prst="roundRect">
            <a:avLst>
              <a:gd name="adj" fmla="val 8889"/>
            </a:avLst>
          </a:prstGeom>
          <a:solidFill>
            <a:srgbClr val="0A0A0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1" name="Text 19"/>
          <p:cNvSpPr/>
          <p:nvPr/>
        </p:nvSpPr>
        <p:spPr>
          <a:xfrm>
            <a:off x="914400" y="498348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i="1" dirty="0" err="1">
                <a:solidFill>
                  <a:srgbClr val="FFFFFF"/>
                </a:solidFill>
                <a:latin typeface="Arial"/>
                <a:ea typeface="Arial" pitchFamily="34" charset="-122"/>
                <a:cs typeface="Arial"/>
              </a:rPr>
              <a:t>Declarar</a:t>
            </a:r>
            <a:r>
              <a:rPr lang="en-US" sz="1500" i="1" dirty="0">
                <a:solidFill>
                  <a:srgbClr val="FFFFFF"/>
                </a:solidFill>
                <a:latin typeface="Arial"/>
                <a:ea typeface="Arial" pitchFamily="34" charset="-122"/>
                <a:cs typeface="Arial"/>
              </a:rPr>
              <a:t> la </a:t>
            </a:r>
            <a:r>
              <a:rPr lang="en-US" sz="1500" i="1" dirty="0" err="1">
                <a:solidFill>
                  <a:srgbClr val="FFFFFF"/>
                </a:solidFill>
                <a:latin typeface="Arial"/>
                <a:ea typeface="Arial" pitchFamily="34" charset="-122"/>
                <a:cs typeface="Arial"/>
              </a:rPr>
              <a:t>antigüedad</a:t>
            </a:r>
            <a:r>
              <a:rPr lang="en-US" sz="1500" i="1" dirty="0">
                <a:solidFill>
                  <a:srgbClr val="FFFFFF"/>
                </a:solidFill>
                <a:latin typeface="Arial"/>
                <a:ea typeface="Arial" pitchFamily="34" charset="-122"/>
                <a:cs typeface="Arial"/>
              </a:rPr>
              <a:t> de la </a:t>
            </a:r>
            <a:r>
              <a:rPr lang="en-US" sz="1500" i="1" dirty="0" err="1">
                <a:solidFill>
                  <a:srgbClr val="FFFFFF"/>
                </a:solidFill>
                <a:latin typeface="Arial"/>
                <a:ea typeface="Arial" pitchFamily="34" charset="-122"/>
                <a:cs typeface="Arial"/>
              </a:rPr>
              <a:t>actualización</a:t>
            </a:r>
            <a:r>
              <a:rPr lang="en-US" sz="1500" i="1" dirty="0">
                <a:solidFill>
                  <a:srgbClr val="FFFFFF"/>
                </a:solidFill>
                <a:latin typeface="Arial"/>
                <a:ea typeface="Arial" pitchFamily="34" charset="-122"/>
                <a:cs typeface="Arial"/>
              </a:rPr>
              <a:t> al </a:t>
            </a:r>
            <a:r>
              <a:rPr lang="en-US" sz="1500" i="1" dirty="0" err="1">
                <a:solidFill>
                  <a:srgbClr val="FFFFFF"/>
                </a:solidFill>
                <a:latin typeface="Arial"/>
                <a:ea typeface="Arial" pitchFamily="34" charset="-122"/>
                <a:cs typeface="Arial"/>
              </a:rPr>
              <a:t>pasajero</a:t>
            </a:r>
            <a:r>
              <a:rPr lang="en-US" sz="1500" i="1" dirty="0">
                <a:solidFill>
                  <a:srgbClr val="FFFFFF"/>
                </a:solidFill>
                <a:latin typeface="Arial"/>
                <a:ea typeface="Arial" pitchFamily="34" charset="-122"/>
                <a:cs typeface="Arial"/>
              </a:rPr>
              <a:t> es fundamental para el </a:t>
            </a:r>
            <a:r>
              <a:rPr lang="en-US" sz="1500" i="1" dirty="0" err="1">
                <a:solidFill>
                  <a:srgbClr val="FFFFFF"/>
                </a:solidFill>
                <a:latin typeface="Arial"/>
                <a:ea typeface="Arial" pitchFamily="34" charset="-122"/>
                <a:cs typeface="Arial"/>
              </a:rPr>
              <a:t>éxito</a:t>
            </a:r>
            <a:r>
              <a:rPr lang="en-US" sz="1500" i="1" dirty="0">
                <a:solidFill>
                  <a:srgbClr val="FFFFFF"/>
                </a:solidFill>
                <a:latin typeface="Arial"/>
                <a:ea typeface="Arial" pitchFamily="34" charset="-122"/>
                <a:cs typeface="Arial"/>
              </a:rPr>
              <a:t> del </a:t>
            </a:r>
            <a:r>
              <a:rPr lang="en-US" sz="1500" i="1" dirty="0" err="1">
                <a:solidFill>
                  <a:srgbClr val="FFFFFF"/>
                </a:solidFill>
                <a:latin typeface="Arial"/>
                <a:ea typeface="Arial" pitchFamily="34" charset="-122"/>
                <a:cs typeface="Arial"/>
              </a:rPr>
              <a:t>producto</a:t>
            </a:r>
            <a:r>
              <a:rPr lang="en-US" sz="1500" i="1" dirty="0">
                <a:solidFill>
                  <a:srgbClr val="FFFFFF"/>
                </a:solidFill>
                <a:latin typeface="Arial"/>
                <a:ea typeface="Arial" pitchFamily="34" charset="-122"/>
                <a:cs typeface="Arial"/>
              </a:rPr>
              <a:t>.</a:t>
            </a:r>
            <a:endParaRPr lang="en-US" sz="15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 dirty="0">
                <a:solidFill>
                  <a:srgbClr val="FFFFFF"/>
                </a:solidFill>
                <a:latin typeface="Arial"/>
                <a:cs typeface="Arial"/>
              </a:rPr>
              <a:t>Por </a:t>
            </a:r>
            <a:r>
              <a:rPr lang="en-US" sz="3000" b="1" dirty="0" err="1">
                <a:solidFill>
                  <a:srgbClr val="FFFFFF"/>
                </a:solidFill>
                <a:latin typeface="Arial"/>
                <a:cs typeface="Arial"/>
              </a:rPr>
              <a:t>más</a:t>
            </a:r>
            <a:r>
              <a:rPr lang="en-US" sz="3000" b="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sz="3000" b="1" dirty="0" err="1">
                <a:solidFill>
                  <a:srgbClr val="FFFFFF"/>
                </a:solidFill>
                <a:latin typeface="Arial"/>
                <a:cs typeface="Arial"/>
              </a:rPr>
              <a:t>visibilidad</a:t>
            </a:r>
            <a:r>
              <a:rPr lang="en-US" sz="3000" b="1" dirty="0">
                <a:solidFill>
                  <a:srgbClr val="FFFFFF"/>
                </a:solidFill>
                <a:latin typeface="Arial"/>
                <a:cs typeface="Arial"/>
              </a:rPr>
              <a:t> para el </a:t>
            </a:r>
            <a:r>
              <a:rPr lang="en-US" sz="3000" b="1" dirty="0" err="1">
                <a:solidFill>
                  <a:srgbClr val="FFFFFF"/>
                </a:solidFill>
                <a:latin typeface="Arial"/>
                <a:cs typeface="Arial"/>
              </a:rPr>
              <a:t>pasajero</a:t>
            </a:r>
            <a:r>
              <a:rPr lang="en-US" sz="3000" b="1" dirty="0">
                <a:solidFill>
                  <a:srgbClr val="FFFFFF"/>
                </a:solidFill>
                <a:latin typeface="Arial"/>
                <a:cs typeface="Arial"/>
              </a:rPr>
              <a:t> rural.</a:t>
            </a:r>
            <a:endParaRPr lang="es-ES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3520440" cy="3520440"/>
          </a:xfrm>
          <a:prstGeom prst="roundRect">
            <a:avLst>
              <a:gd name="adj" fmla="val 3117"/>
            </a:avLst>
          </a:prstGeom>
          <a:solidFill>
            <a:srgbClr val="1A1A1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201168" cy="201168"/>
          </a:xfrm>
          <a:prstGeom prst="ellipse">
            <a:avLst/>
          </a:prstGeom>
          <a:solidFill>
            <a:srgbClr val="ED653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/>
          <p:nvPr/>
        </p:nvSpPr>
        <p:spPr>
          <a:xfrm>
            <a:off x="1170432" y="1874520"/>
            <a:ext cx="2624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D6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nuevo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651760"/>
            <a:ext cx="2971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9D9DC"/>
                </a:solidFill>
                <a:latin typeface="Arial"/>
                <a:ea typeface="Arial" pitchFamily="34" charset="-122"/>
                <a:cs typeface="Arial"/>
              </a:rPr>
              <a:t>El </a:t>
            </a:r>
            <a:r>
              <a:rPr lang="en-US" sz="1300" dirty="0" err="1">
                <a:solidFill>
                  <a:srgbClr val="D9D9DC"/>
                </a:solidFill>
                <a:latin typeface="Arial"/>
                <a:ea typeface="Arial" pitchFamily="34" charset="-122"/>
                <a:cs typeface="Arial"/>
              </a:rPr>
              <a:t>segmento</a:t>
            </a:r>
            <a:r>
              <a:rPr lang="en-US" sz="1300" dirty="0">
                <a:solidFill>
                  <a:srgbClr val="D9D9DC"/>
                </a:solidFill>
                <a:latin typeface="Arial"/>
                <a:ea typeface="Arial" pitchFamily="34" charset="-122"/>
                <a:cs typeface="Arial"/>
              </a:rPr>
              <a:t>: rural </a:t>
            </a:r>
            <a:r>
              <a:rPr lang="en-US" sz="1300" dirty="0" err="1">
                <a:solidFill>
                  <a:srgbClr val="D9D9DC"/>
                </a:solidFill>
                <a:latin typeface="Arial"/>
                <a:ea typeface="Arial" pitchFamily="34" charset="-122"/>
                <a:cs typeface="Arial"/>
              </a:rPr>
              <a:t>disperso</a:t>
            </a:r>
            <a:r>
              <a:rPr lang="en-US" sz="1300" dirty="0">
                <a:solidFill>
                  <a:srgbClr val="D9D9DC"/>
                </a:solidFill>
                <a:latin typeface="Arial"/>
                <a:ea typeface="Arial" pitchFamily="34" charset="-122"/>
                <a:cs typeface="Arial"/>
              </a:rPr>
              <a:t>, cero </a:t>
            </a:r>
            <a:r>
              <a:rPr lang="en-US" sz="1300" dirty="0" err="1">
                <a:solidFill>
                  <a:srgbClr val="D9D9DC"/>
                </a:solidFill>
                <a:latin typeface="Arial"/>
                <a:ea typeface="Arial" pitchFamily="34" charset="-122"/>
                <a:cs typeface="Arial"/>
              </a:rPr>
              <a:t>costo</a:t>
            </a:r>
            <a:r>
              <a:rPr lang="en-US" sz="1300" dirty="0">
                <a:solidFill>
                  <a:srgbClr val="D9D9DC"/>
                </a:solidFill>
                <a:latin typeface="Arial"/>
                <a:ea typeface="Arial" pitchFamily="34" charset="-122"/>
                <a:cs typeface="Arial"/>
              </a:rPr>
              <a:t> de entrada. Sin </a:t>
            </a:r>
            <a:r>
              <a:rPr lang="en-US" sz="1300" dirty="0" err="1">
                <a:solidFill>
                  <a:srgbClr val="D9D9DC"/>
                </a:solidFill>
                <a:latin typeface="Arial"/>
                <a:ea typeface="Arial" pitchFamily="34" charset="-122"/>
                <a:cs typeface="Arial"/>
              </a:rPr>
              <a:t>perímetro</a:t>
            </a:r>
            <a:r>
              <a:rPr lang="en-US" sz="1300" dirty="0">
                <a:solidFill>
                  <a:srgbClr val="D9D9DC"/>
                </a:solidFill>
                <a:latin typeface="Arial"/>
                <a:ea typeface="Arial" pitchFamily="34" charset="-122"/>
                <a:cs typeface="Arial"/>
              </a:rPr>
              <a:t>, sin </a:t>
            </a:r>
            <a:r>
              <a:rPr lang="en-US" sz="1300" dirty="0" err="1">
                <a:solidFill>
                  <a:srgbClr val="D9D9DC"/>
                </a:solidFill>
                <a:latin typeface="Arial"/>
                <a:ea typeface="Arial" pitchFamily="34" charset="-122"/>
                <a:cs typeface="Arial"/>
              </a:rPr>
              <a:t>licitación</a:t>
            </a:r>
            <a:r>
              <a:rPr lang="en-US" sz="1300" dirty="0">
                <a:solidFill>
                  <a:srgbClr val="D9D9DC"/>
                </a:solidFill>
                <a:latin typeface="Arial"/>
                <a:ea typeface="Arial" pitchFamily="34" charset="-122"/>
                <a:cs typeface="Arial"/>
              </a:rPr>
              <a:t>, sin hardware.</a:t>
            </a:r>
            <a:endParaRPr lang="en-US" sz="1300" dirty="0">
              <a:latin typeface="Arial"/>
              <a:cs typeface="Arial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343400" y="1600200"/>
            <a:ext cx="3520440" cy="3520440"/>
          </a:xfrm>
          <a:prstGeom prst="roundRect">
            <a:avLst>
              <a:gd name="adj" fmla="val 3117"/>
            </a:avLst>
          </a:prstGeom>
          <a:solidFill>
            <a:srgbClr val="1A1A1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8" name="Shape 6"/>
          <p:cNvSpPr/>
          <p:nvPr/>
        </p:nvSpPr>
        <p:spPr>
          <a:xfrm>
            <a:off x="4617720" y="1965960"/>
            <a:ext cx="201168" cy="201168"/>
          </a:xfrm>
          <a:prstGeom prst="ellipse">
            <a:avLst/>
          </a:prstGeom>
          <a:solidFill>
            <a:srgbClr val="ED653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4965192" y="1874520"/>
            <a:ext cx="2624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D6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honesto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617720" y="2651760"/>
            <a:ext cx="2971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9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web solo transmite con la pestaña en primer plano. Camino a producción: app nativa para segundo plano, o un dispositivo IoT a bordo.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138160" y="1600200"/>
            <a:ext cx="3520440" cy="3520440"/>
          </a:xfrm>
          <a:prstGeom prst="roundRect">
            <a:avLst>
              <a:gd name="adj" fmla="val 3117"/>
            </a:avLst>
          </a:prstGeom>
          <a:solidFill>
            <a:srgbClr val="1A1A1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2" name="Shape 10"/>
          <p:cNvSpPr/>
          <p:nvPr/>
        </p:nvSpPr>
        <p:spPr>
          <a:xfrm>
            <a:off x="8412480" y="1965960"/>
            <a:ext cx="201168" cy="201168"/>
          </a:xfrm>
          <a:prstGeom prst="ellipse">
            <a:avLst/>
          </a:prstGeom>
          <a:solidFill>
            <a:srgbClr val="ED653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/>
          <p:nvPr/>
        </p:nvSpPr>
        <p:spPr>
          <a:xfrm>
            <a:off x="8759952" y="1874520"/>
            <a:ext cx="2624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D6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riesgo abierto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412480" y="2651760"/>
            <a:ext cx="2971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9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Operadores de margen ajustado, sin incentivo directo hoy. Hipótesis por validar: la visibilidad frente al pasajero les atrae más pasajeros.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5486400"/>
            <a:ext cx="11064240" cy="0"/>
          </a:xfrm>
          <a:prstGeom prst="line">
            <a:avLst/>
          </a:prstGeom>
          <a:noFill/>
          <a:ln w="9525">
            <a:solidFill>
              <a:srgbClr val="3A3A3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Text 15"/>
          <p:cNvSpPr/>
          <p:nvPr/>
        </p:nvSpPr>
        <p:spPr>
          <a:xfrm>
            <a:off x="548640" y="6263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 err="1">
                <a:solidFill>
                  <a:srgbClr val="FFFFFF"/>
                </a:solidFill>
                <a:latin typeface="Arial"/>
                <a:ea typeface="Arial" pitchFamily="34" charset="-122"/>
                <a:cs typeface="Arial"/>
              </a:rPr>
              <a:t>Miqui</a:t>
            </a:r>
            <a:r>
              <a:rPr lang="en-US" sz="1100" dirty="0">
                <a:solidFill>
                  <a:srgbClr val="9A9AA0"/>
                </a:solidFill>
                <a:latin typeface="Arial"/>
                <a:ea typeface="Arial" pitchFamily="34" charset="-122"/>
                <a:cs typeface="Arial"/>
              </a:rPr>
              <a:t>  ·  Hackathon, </a:t>
            </a:r>
            <a:r>
              <a:rPr lang="en-US" sz="1100" dirty="0" err="1">
                <a:solidFill>
                  <a:srgbClr val="9A9AA0"/>
                </a:solidFill>
                <a:latin typeface="Arial"/>
                <a:ea typeface="Arial" pitchFamily="34" charset="-122"/>
                <a:cs typeface="Arial"/>
              </a:rPr>
              <a:t>eje</a:t>
            </a:r>
            <a:r>
              <a:rPr lang="en-US" sz="1100" dirty="0">
                <a:solidFill>
                  <a:srgbClr val="9A9AA0"/>
                </a:solidFill>
                <a:latin typeface="Arial"/>
                <a:ea typeface="Arial" pitchFamily="34" charset="-122"/>
                <a:cs typeface="Arial"/>
              </a:rPr>
              <a:t> Transporte</a:t>
            </a:r>
            <a:endParaRPr lang="en-US" sz="11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23CCAD-7FB7-341F-DBD9-748A0B5B69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39D03EF-BF14-7A39-B34F-FD3E452218E2}"/>
              </a:ext>
            </a:extLst>
          </p:cNvPr>
          <p:cNvSpPr/>
          <p:nvPr/>
        </p:nvSpPr>
        <p:spPr>
          <a:xfrm>
            <a:off x="548640" y="5029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FFFFFF"/>
                </a:solidFill>
                <a:latin typeface="Arial"/>
                <a:cs typeface="Arial"/>
              </a:rPr>
              <a:t>Fuentes</a:t>
            </a:r>
            <a:endParaRPr lang="es-ES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FE240E7F-2F38-A0B1-C5D5-861442C699E3}"/>
              </a:ext>
            </a:extLst>
          </p:cNvPr>
          <p:cNvSpPr txBox="1"/>
          <p:nvPr/>
        </p:nvSpPr>
        <p:spPr>
          <a:xfrm>
            <a:off x="260960" y="1038616"/>
            <a:ext cx="11931040" cy="160043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 algn="l" rtl="0">
              <a:buAutoNum type="arabicPeriod"/>
            </a:pPr>
            <a:r>
              <a:rPr lang="es-CL" sz="1600" u="sng" kern="1200">
                <a:solidFill>
                  <a:schemeClr val="bg1"/>
                </a:solidFill>
                <a:latin typeface="Arial"/>
                <a:ea typeface="+mn-ea"/>
                <a:cs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https://www.horariodebuses.cl/buses-flota-talagante</a:t>
            </a:r>
            <a:endParaRPr lang="es-CL" sz="1600" u="sng" kern="1200">
              <a:solidFill>
                <a:schemeClr val="bg1"/>
              </a:solidFill>
              <a:latin typeface="Arial"/>
              <a:cs typeface="Arial"/>
            </a:endParaRPr>
          </a:p>
          <a:p>
            <a:pPr marL="342900" indent="-342900" algn="l" rtl="0">
              <a:buAutoNum type="arabicPeriod"/>
            </a:pPr>
            <a:r>
              <a:rPr lang="es-CL" sz="1600" u="sng" kern="1200">
                <a:solidFill>
                  <a:schemeClr val="bg1"/>
                </a:solidFill>
                <a:latin typeface="Arial"/>
                <a:ea typeface="+mn-ea"/>
                <a:cs typeface="Arial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https://soydepaine.cl/horarios-buses/</a:t>
            </a:r>
            <a:endParaRPr lang="es-CL" sz="1600" u="sng" kern="1200">
              <a:solidFill>
                <a:schemeClr val="bg1"/>
              </a:solidFill>
              <a:latin typeface="Arial"/>
              <a:cs typeface="Arial"/>
            </a:endParaRPr>
          </a:p>
          <a:p>
            <a:pPr marL="342900" indent="-342900" algn="l" rtl="0">
              <a:buAutoNum type="arabicPeriod"/>
            </a:pPr>
            <a:r>
              <a:rPr lang="es-CL" sz="1600" u="sng" kern="1200">
                <a:solidFill>
                  <a:schemeClr val="bg1"/>
                </a:solidFill>
                <a:latin typeface="Arial"/>
                <a:ea typeface="+mn-ea"/>
                <a:cs typeface="Arial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https://islaval.cl/recorridos/</a:t>
            </a:r>
            <a:endParaRPr lang="es-CL" sz="1600" u="sng" kern="1200">
              <a:solidFill>
                <a:schemeClr val="bg1"/>
              </a:solidFill>
              <a:latin typeface="Arial"/>
              <a:cs typeface="Arial"/>
            </a:endParaRPr>
          </a:p>
          <a:p>
            <a:pPr marL="342900" indent="-342900" algn="l" rtl="0">
              <a:buAutoNum type="arabicPeriod"/>
            </a:pPr>
            <a:r>
              <a:rPr lang="es-CL" sz="1600" kern="1200">
                <a:solidFill>
                  <a:schemeClr val="bg1"/>
                </a:solidFill>
                <a:latin typeface="Arial"/>
                <a:ea typeface="+mn-ea"/>
                <a:cs typeface="Arial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https://www.chicureohoy.cl/actualidad/colina-buses-damir-anuncia-alza-en-sus-tarifas-de-transporte-publico-hacia-santiago/</a:t>
            </a:r>
            <a:endParaRPr lang="es-CL" sz="1600" kern="1200">
              <a:solidFill>
                <a:schemeClr val="bg1"/>
              </a:solidFill>
              <a:latin typeface="Arial"/>
              <a:cs typeface="Arial"/>
            </a:endParaRPr>
          </a:p>
          <a:p>
            <a:pPr marL="342900" indent="-342900">
              <a:buAutoNum type="arabicPeriod"/>
            </a:pPr>
            <a:r>
              <a:rPr lang="es-CL" sz="1600">
                <a:solidFill>
                  <a:schemeClr val="bg1"/>
                </a:solidFill>
                <a:latin typeface="Arial"/>
                <a:ea typeface="+mn-lt"/>
                <a:cs typeface="Arial"/>
              </a:rPr>
              <a:t>https://www.colina.cl/buses-acercamiento/</a:t>
            </a:r>
            <a:endParaRPr lang="es-CL" sz="1600">
              <a:solidFill>
                <a:schemeClr val="bg1"/>
              </a:solidFill>
              <a:latin typeface="Arial"/>
              <a:cs typeface="Arial"/>
            </a:endParaRPr>
          </a:p>
          <a:p>
            <a:pPr algn="ctr"/>
            <a:endParaRPr lang="es-ES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2334151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709</Words>
  <Application>Microsoft Macintosh PowerPoint</Application>
  <PresentationFormat>Panorámica</PresentationFormat>
  <Paragraphs>64</Paragraphs>
  <Slides>7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Rodrigo Andrés Meza Aranda</cp:lastModifiedBy>
  <cp:revision>169</cp:revision>
  <dcterms:created xsi:type="dcterms:W3CDTF">2026-08-14T19:55:58Z</dcterms:created>
  <dcterms:modified xsi:type="dcterms:W3CDTF">2026-08-14T21:09:01Z</dcterms:modified>
</cp:coreProperties>
</file>